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488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D9A544"/>
                </a:solidFill>
                <a:latin typeface="Consolas"/>
              </a:rPr>
              <a:t>PROYECTO INTEGRADOR · ACTIVIDAD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14600"/>
            <a:ext cx="100584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 i="0">
                <a:solidFill>
                  <a:srgbClr val="F5F3EE"/>
                </a:solidFill>
                <a:latin typeface="Segoe UI"/>
              </a:rPr>
              <a:t>Core Banking</a:t>
            </a:r>
          </a:p>
          <a:p>
            <a:r>
              <a:rPr sz="4400" b="1" i="0">
                <a:solidFill>
                  <a:srgbClr val="F5F3EE"/>
                </a:solidFill>
                <a:latin typeface="Segoe UI"/>
              </a:rPr>
              <a:t>Refactoring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77639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8C93A6"/>
                </a:solidFill>
                <a:latin typeface="Segoe UI"/>
              </a:rPr>
              <a:t>Cinco problemas reales de diseño, cinco patrones GoF: el mismo comportamiento, con una base de código que se puede extender.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892040"/>
            <a:ext cx="2377440" cy="868680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50017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D9584A"/>
                </a:solidFill>
                <a:latin typeface="Consolas"/>
              </a:rPr>
              <a:t>legacy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03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F5F3EE"/>
                </a:solidFill>
                <a:latin typeface="Segoe UI"/>
              </a:rPr>
              <a:t>5 problemas de diseño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514807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 i="0">
                <a:solidFill>
                  <a:srgbClr val="8C93A6"/>
                </a:solidFill>
                <a:latin typeface="Segoe U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4892040"/>
            <a:ext cx="2377440" cy="868680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50017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FAE7C"/>
                </a:solidFill>
                <a:latin typeface="Consolas"/>
              </a:rPr>
              <a:t>refactor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5303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F5F3EE"/>
                </a:solidFill>
                <a:latin typeface="Segoe UI"/>
              </a:rPr>
              <a:t>5 patrones GoF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26364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C93A6"/>
                </a:solidFill>
                <a:latin typeface="Consolas"/>
              </a:rPr>
              <a:t>Jeison Cabarcas Pertuz · Especialización en Desarrollo de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6355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8C93A6"/>
                </a:solidFill>
                <a:latin typeface="Consolas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D9A544"/>
                </a:solidFill>
                <a:latin typeface="Consolas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3EE"/>
                </a:solidFill>
                <a:latin typeface="Segoe UI"/>
              </a:rPr>
              <a:t>Un Core Bancario, dos versiones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D9A544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19" y="1691639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800" b="1" i="0">
                <a:solidFill>
                  <a:srgbClr val="F5F3EE"/>
                </a:solidFill>
                <a:latin typeface="Segoe UI"/>
              </a:rPr>
              <a:t>Mismo API, mismas reglas de negocio, mismos datos. </a:t>
            </a:r>
            <a:r>
              <a:rPr sz="1800" b="0" i="0">
                <a:solidFill>
                  <a:srgbClr val="8C93A6"/>
                </a:solidFill>
                <a:latin typeface="Segoe UI"/>
              </a:rPr>
              <a:t>Clientes, cuentas SAVINGS/CHECKING, depósitos, retiros y transferencias.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D9A544"/>
                </a:solidFill>
                <a:latin typeface="Consola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65176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800" b="1" i="0">
                <a:solidFill>
                  <a:srgbClr val="F5F3EE"/>
                </a:solidFill>
                <a:latin typeface="Segoe UI"/>
              </a:rPr>
              <a:t>legacy/ se construyó para este proyecto integrador. </a:t>
            </a:r>
            <a:r>
              <a:rPr sz="1800" b="0" i="0">
                <a:solidFill>
                  <a:srgbClr val="8C93A6"/>
                </a:solidFill>
                <a:latin typeface="Segoe UI"/>
              </a:rPr>
              <a:t>Funciona, pero con problemas reales de diseño, no de ejecución.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D9A544"/>
                </a:solidFill>
                <a:latin typeface="Consola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361188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800" b="1" i="0">
                <a:solidFill>
                  <a:srgbClr val="F5F3EE"/>
                </a:solidFill>
                <a:latin typeface="Segoe UI"/>
              </a:rPr>
              <a:t>refactor/ resuelve cinco de esos problemas. </a:t>
            </a:r>
            <a:r>
              <a:rPr sz="1800" b="0" i="0">
                <a:solidFill>
                  <a:srgbClr val="8C93A6"/>
                </a:solidFill>
                <a:latin typeface="Segoe UI"/>
              </a:rPr>
              <a:t>Aplicando cinco patrones GoF, conservando el comportamiento funcional.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D9A544"/>
                </a:solidFill>
                <a:latin typeface="Consola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457200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800" b="1" i="0">
                <a:solidFill>
                  <a:srgbClr val="F5F3EE"/>
                </a:solidFill>
                <a:latin typeface="Segoe UI"/>
              </a:rPr>
              <a:t>La meta es defender qué estaba mal y por qué se cambió. </a:t>
            </a:r>
            <a:r>
              <a:rPr sz="1800" b="0" i="0">
                <a:solidFill>
                  <a:srgbClr val="8C93A6"/>
                </a:solidFill>
                <a:latin typeface="Segoe UI"/>
              </a:rPr>
              <a:t>Con código y pruebas — no solo con el nombre del patrón.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26364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C93A6"/>
                </a:solidFill>
                <a:latin typeface="Consolas"/>
              </a:rPr>
              <a:t>Core Banking Refactoring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6355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8C93A6"/>
                </a:solidFill>
                <a:latin typeface="Consolas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D9A544"/>
                </a:solidFill>
                <a:latin typeface="Consolas"/>
              </a:rPr>
              <a:t>EL 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3EE"/>
                </a:solidFill>
                <a:latin typeface="Segoe UI"/>
              </a:rPr>
              <a:t>legacy: funciona, pero mal diseñado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8C93A6"/>
                </a:solidFill>
                <a:latin typeface="Segoe UI"/>
              </a:rPr>
              <a:t>10 pruebas, BUILD SUCCESS — el problema es de diseño, no de funcionalidad.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96596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30552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D9584A"/>
                </a:solidFill>
                <a:latin typeface="Consolas"/>
              </a:rPr>
              <a:t>LEG-01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807208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F5F3EE"/>
                </a:solidFill>
                <a:latin typeface="Segoe UI"/>
              </a:rPr>
              <a:t>switch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anidado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por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tipo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de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cuenta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(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comisión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y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límite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84378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 dirty="0" err="1">
                <a:solidFill>
                  <a:srgbClr val="8C93A6"/>
                </a:solidFill>
                <a:latin typeface="Consolas"/>
              </a:rPr>
              <a:t>TransactionServiceImpl</a:t>
            </a:r>
            <a:endParaRPr sz="1200" b="0" i="0" dirty="0">
              <a:solidFill>
                <a:srgbClr val="8C93A6"/>
              </a:solidFill>
              <a:latin typeface="Consola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548640" y="2624328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78892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D9584A"/>
                </a:solidFill>
                <a:latin typeface="Consolas"/>
              </a:rPr>
              <a:t>LEG-02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43814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 dirty="0" err="1">
                <a:solidFill>
                  <a:srgbClr val="F5F3EE"/>
                </a:solidFill>
                <a:latin typeface="Segoe UI"/>
              </a:rPr>
              <a:t>condicionales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de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estado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repetidos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en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cuatro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lugares</a:t>
            </a:r>
            <a:endParaRPr sz="1600" b="0" i="0" dirty="0">
              <a:solidFill>
                <a:srgbClr val="F5F3EE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351129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 dirty="0">
                <a:solidFill>
                  <a:srgbClr val="8C93A6"/>
                </a:solidFill>
                <a:latin typeface="Consolas"/>
              </a:rPr>
              <a:t>Transaction / </a:t>
            </a:r>
            <a:r>
              <a:rPr sz="1200" b="0" i="0" dirty="0" err="1">
                <a:solidFill>
                  <a:srgbClr val="8C93A6"/>
                </a:solidFill>
                <a:latin typeface="Consolas"/>
              </a:rPr>
              <a:t>AccountServiceImpl</a:t>
            </a:r>
            <a:endParaRPr sz="1200" b="0" i="0" dirty="0">
              <a:solidFill>
                <a:srgbClr val="8C93A6"/>
              </a:solidFill>
              <a:latin typeface="Consola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282696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44728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D9584A"/>
                </a:solidFill>
                <a:latin typeface="Consolas"/>
              </a:rPr>
              <a:t>LEG-03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05655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 dirty="0" err="1">
                <a:solidFill>
                  <a:srgbClr val="F5F3EE"/>
                </a:solidFill>
                <a:latin typeface="Segoe UI"/>
              </a:rPr>
              <a:t>siete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validaciones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seguidas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dentro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de un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mismo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método</a:t>
            </a:r>
            <a:endParaRPr sz="1600" b="0" i="0" dirty="0">
              <a:solidFill>
                <a:srgbClr val="F5F3EE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16975" y="41788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 dirty="0">
                <a:solidFill>
                  <a:srgbClr val="8C93A6"/>
                </a:solidFill>
                <a:latin typeface="Consolas"/>
              </a:rPr>
              <a:t>transfer()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941063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4105655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D9584A"/>
                </a:solidFill>
                <a:latin typeface="Consolas"/>
              </a:rPr>
              <a:t>LEG-04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130551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F5F3EE"/>
                </a:solidFill>
                <a:latin typeface="Segoe UI"/>
              </a:rPr>
              <a:t>la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misma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estructura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de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siete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pasos,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copiada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tres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veces</a:t>
            </a:r>
            <a:endParaRPr sz="1600" b="0" i="0" dirty="0">
              <a:solidFill>
                <a:srgbClr val="F5F3EE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00160" y="21762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 dirty="0">
                <a:solidFill>
                  <a:srgbClr val="8C93A6"/>
                </a:solidFill>
                <a:latin typeface="Consolas"/>
              </a:rPr>
              <a:t>deposit / withdraw / transfer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599431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4764023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D9584A"/>
                </a:solidFill>
                <a:latin typeface="Consolas"/>
              </a:rPr>
              <a:t>LEG-05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64023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 dirty="0" err="1">
                <a:solidFill>
                  <a:srgbClr val="F5F3EE"/>
                </a:solidFill>
                <a:latin typeface="Segoe UI"/>
              </a:rPr>
              <a:t>auditoría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y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notificación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invocadas</a:t>
            </a:r>
            <a:r>
              <a:rPr sz="1600" b="0" i="0" dirty="0">
                <a:solidFill>
                  <a:srgbClr val="F5F3EE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F5F3EE"/>
                </a:solidFill>
                <a:latin typeface="Segoe UI"/>
              </a:rPr>
              <a:t>directamente</a:t>
            </a:r>
            <a:endParaRPr sz="1600" b="0" i="0" dirty="0">
              <a:solidFill>
                <a:srgbClr val="F5F3EE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69680" y="47823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8C93A6"/>
                </a:solidFill>
                <a:latin typeface="Consolas"/>
              </a:rPr>
              <a:t>TransactionServiceImpl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5257799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8640" y="626364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C93A6"/>
                </a:solidFill>
                <a:latin typeface="Consolas"/>
              </a:rPr>
              <a:t>Core Banking Refactoring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5455" y="6355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8C93A6"/>
                </a:solidFill>
                <a:latin typeface="Consolas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9144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D9A544"/>
                </a:solidFill>
                <a:latin typeface="Consolas"/>
              </a:rPr>
              <a:t>LEG-0</a:t>
            </a:r>
            <a:r>
              <a:rPr lang="es-419" sz="1300" b="1" i="0" dirty="0">
                <a:solidFill>
                  <a:srgbClr val="D9A544"/>
                </a:solidFill>
                <a:latin typeface="Consolas"/>
              </a:rPr>
              <a:t>1</a:t>
            </a:r>
            <a:r>
              <a:rPr sz="1300" b="1" i="0" dirty="0">
                <a:solidFill>
                  <a:srgbClr val="D9A544"/>
                </a:solidFill>
                <a:latin typeface="Consolas"/>
              </a:rPr>
              <a:t> → TEMPLATE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5F3EE"/>
                </a:solidFill>
                <a:latin typeface="Segoe UI"/>
              </a:rPr>
              <a:t>Depositar, retirar, transferir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364327" cy="3246120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78727" y="1691640"/>
            <a:ext cx="5364327" cy="3246120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74520"/>
            <a:ext cx="481568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D9584A"/>
                </a:solidFill>
                <a:latin typeface="Consolas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047" y="1874520"/>
            <a:ext cx="481568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FAE7C"/>
                </a:solidFill>
                <a:latin typeface="Consolas"/>
              </a:rPr>
              <a:t>DESPUÉS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58568"/>
            <a:ext cx="4815687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deposit()  { load; validate; fee;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            apply; save; audit; notify; }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withdraw() { load; validate; fee;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            apply; save; audit; notify; }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transfer() { load; validate; fee;  // x2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            apply; save; audit; notify;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2258568"/>
            <a:ext cx="4815687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abstract class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</a:t>
            </a:r>
            <a:r>
              <a:rPr sz="1300" b="1" i="0">
                <a:solidFill>
                  <a:srgbClr val="D9A544"/>
                </a:solidFill>
                <a:latin typeface="Consolas"/>
              </a:rPr>
              <a:t>AbstractTransactionProcessor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{</a:t>
            </a:r>
          </a:p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  final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process(command) {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   loadContext(); resolvePolicy();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   calculateFee(); validate();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   applyMovement(); persistTransaction();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   publishCompletedEvent();</a:t>
            </a:r>
          </a:p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    return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buildResult(); }</a:t>
            </a:r>
          </a:p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  abstract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applyMovement(context);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343400"/>
            <a:ext cx="48156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8C93A6"/>
                </a:solidFill>
                <a:latin typeface="Segoe UI"/>
              </a:rPr>
              <a:t>la misma estructura de siete pasos, copiada tres veces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7" y="4357116"/>
            <a:ext cx="48156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 dirty="0">
                <a:solidFill>
                  <a:srgbClr val="8C93A6"/>
                </a:solidFill>
                <a:latin typeface="Segoe UI"/>
              </a:rPr>
              <a:t>el </a:t>
            </a:r>
            <a:r>
              <a:rPr sz="1300" b="0" i="0" dirty="0" err="1">
                <a:solidFill>
                  <a:srgbClr val="8C93A6"/>
                </a:solidFill>
                <a:latin typeface="Segoe UI"/>
              </a:rPr>
              <a:t>algoritmo</a:t>
            </a:r>
            <a:r>
              <a:rPr sz="1300" b="0" i="0" dirty="0">
                <a:solidFill>
                  <a:srgbClr val="8C93A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8C93A6"/>
                </a:solidFill>
                <a:latin typeface="Segoe UI"/>
              </a:rPr>
              <a:t>común</a:t>
            </a:r>
            <a:r>
              <a:rPr sz="1300" b="0" i="0" dirty="0">
                <a:solidFill>
                  <a:srgbClr val="8C93A6"/>
                </a:solidFill>
                <a:latin typeface="Segoe UI"/>
              </a:rPr>
              <a:t> es final; solo cambia </a:t>
            </a:r>
            <a:r>
              <a:rPr sz="1300" b="0" i="0" dirty="0" err="1">
                <a:solidFill>
                  <a:srgbClr val="8C93A6"/>
                </a:solidFill>
                <a:latin typeface="Segoe UI"/>
              </a:rPr>
              <a:t>applyMovement</a:t>
            </a:r>
            <a:r>
              <a:rPr sz="1300" b="0" i="0" dirty="0">
                <a:solidFill>
                  <a:srgbClr val="8C93A6"/>
                </a:solidFill>
                <a:latin typeface="Segoe UI"/>
              </a:rPr>
              <a:t>()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16636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5303520"/>
            <a:ext cx="8503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5F3EE"/>
                </a:solidFill>
                <a:latin typeface="Segoe UI"/>
              </a:rPr>
              <a:t>Existe un algoritmo estable con pocos pasos variables; una jerarquía de un nivel hace visible el flujo compartido.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6975" y="5303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D9A544"/>
                </a:solidFill>
                <a:latin typeface="Consolas"/>
              </a:rPr>
              <a:t>PRINCIPIO: SRP · OCP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26364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C93A6"/>
                </a:solidFill>
                <a:latin typeface="Consolas"/>
              </a:rPr>
              <a:t>Core Banking Refactoring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5455" y="6355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8C93A6"/>
                </a:solidFill>
                <a:latin typeface="Consolas"/>
              </a:rPr>
              <a:t>07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9144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D9A544"/>
                </a:solidFill>
                <a:latin typeface="Consolas"/>
              </a:rPr>
              <a:t>LEG-0</a:t>
            </a:r>
            <a:r>
              <a:rPr lang="es-419" sz="1300" b="1" i="0" dirty="0">
                <a:solidFill>
                  <a:srgbClr val="D9A544"/>
                </a:solidFill>
                <a:latin typeface="Consolas"/>
              </a:rPr>
              <a:t>2</a:t>
            </a:r>
            <a:r>
              <a:rPr sz="1300" b="1" i="0" dirty="0">
                <a:solidFill>
                  <a:srgbClr val="D9A544"/>
                </a:solidFill>
                <a:latin typeface="Consolas"/>
              </a:rPr>
              <a:t> →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5F3EE"/>
                </a:solidFill>
                <a:latin typeface="Segoe UI"/>
              </a:rPr>
              <a:t>Comisiones y límites por tipo de cuenta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364327" cy="3246120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78727" y="1691640"/>
            <a:ext cx="5364327" cy="3246120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74520"/>
            <a:ext cx="481568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D9584A"/>
                </a:solidFill>
                <a:latin typeface="Consolas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047" y="1874520"/>
            <a:ext cx="481568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FAE7C"/>
                </a:solidFill>
                <a:latin typeface="Consolas"/>
              </a:rPr>
              <a:t>DESPUÉS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58568"/>
            <a:ext cx="4815687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 dirty="0">
                <a:solidFill>
                  <a:srgbClr val="B99BE8"/>
                </a:solidFill>
                <a:latin typeface="Consolas"/>
              </a:rPr>
              <a:t>switch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 (</a:t>
            </a:r>
            <a:r>
              <a:rPr sz="1300" b="0" i="0" dirty="0" err="1">
                <a:solidFill>
                  <a:srgbClr val="F5F3EE"/>
                </a:solidFill>
                <a:latin typeface="Consolas"/>
              </a:rPr>
              <a:t>accountType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) {</a:t>
            </a:r>
          </a:p>
          <a:p>
            <a:pPr>
              <a:lnSpc>
                <a:spcPct val="130000"/>
              </a:lnSpc>
            </a:pPr>
            <a:r>
              <a:rPr sz="1300" b="0" i="0" dirty="0">
                <a:solidFill>
                  <a:srgbClr val="F5F3EE"/>
                </a:solidFill>
                <a:latin typeface="Consolas"/>
              </a:rPr>
              <a:t>  case SAVINGS:</a:t>
            </a:r>
          </a:p>
          <a:p>
            <a:pPr>
              <a:lnSpc>
                <a:spcPct val="130000"/>
              </a:lnSpc>
            </a:pPr>
            <a:r>
              <a:rPr sz="1300" b="1" i="0" dirty="0">
                <a:solidFill>
                  <a:srgbClr val="B99BE8"/>
                </a:solidFill>
                <a:latin typeface="Consolas"/>
              </a:rPr>
              <a:t>    switch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 (</a:t>
            </a:r>
            <a:r>
              <a:rPr sz="1300" b="0" i="0" dirty="0" err="1">
                <a:solidFill>
                  <a:srgbClr val="F5F3EE"/>
                </a:solidFill>
                <a:latin typeface="Consolas"/>
              </a:rPr>
              <a:t>transactionType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) {</a:t>
            </a:r>
          </a:p>
          <a:p>
            <a:pPr>
              <a:lnSpc>
                <a:spcPct val="130000"/>
              </a:lnSpc>
            </a:pPr>
            <a:r>
              <a:rPr sz="1300" b="0" i="0" dirty="0">
                <a:solidFill>
                  <a:srgbClr val="F5F3EE"/>
                </a:solidFill>
                <a:latin typeface="Consolas"/>
              </a:rPr>
              <a:t>      case TRANSFER: </a:t>
            </a:r>
            <a:r>
              <a:rPr sz="1300" b="1" i="0" dirty="0">
                <a:solidFill>
                  <a:srgbClr val="B99BE8"/>
                </a:solidFill>
                <a:latin typeface="Consolas"/>
              </a:rPr>
              <a:t>return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 1000;</a:t>
            </a:r>
          </a:p>
          <a:p>
            <a:pPr>
              <a:lnSpc>
                <a:spcPct val="130000"/>
              </a:lnSpc>
            </a:pPr>
            <a:r>
              <a:rPr sz="1300" b="0" i="0" dirty="0">
                <a:solidFill>
                  <a:srgbClr val="F5F3EE"/>
                </a:solidFill>
                <a:latin typeface="Consolas"/>
              </a:rPr>
              <a:t>      ...  }</a:t>
            </a:r>
          </a:p>
          <a:p>
            <a:pPr>
              <a:lnSpc>
                <a:spcPct val="130000"/>
              </a:lnSpc>
            </a:pPr>
            <a:r>
              <a:rPr sz="1300" b="0" i="0" dirty="0">
                <a:solidFill>
                  <a:srgbClr val="F5F3EE"/>
                </a:solidFill>
                <a:latin typeface="Consolas"/>
              </a:rPr>
              <a:t>  case CHECKING:</a:t>
            </a:r>
          </a:p>
          <a:p>
            <a:pPr>
              <a:lnSpc>
                <a:spcPct val="130000"/>
              </a:lnSpc>
            </a:pPr>
            <a:r>
              <a:rPr sz="1300" b="1" i="0" dirty="0">
                <a:solidFill>
                  <a:srgbClr val="B99BE8"/>
                </a:solidFill>
                <a:latin typeface="Consolas"/>
              </a:rPr>
              <a:t>    switch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 (</a:t>
            </a:r>
            <a:r>
              <a:rPr sz="1300" b="0" i="0" dirty="0" err="1">
                <a:solidFill>
                  <a:srgbClr val="F5F3EE"/>
                </a:solidFill>
                <a:latin typeface="Consolas"/>
              </a:rPr>
              <a:t>transactionType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) {</a:t>
            </a:r>
          </a:p>
          <a:p>
            <a:pPr>
              <a:lnSpc>
                <a:spcPct val="130000"/>
              </a:lnSpc>
            </a:pPr>
            <a:r>
              <a:rPr sz="1300" b="0" i="0" dirty="0">
                <a:solidFill>
                  <a:srgbClr val="F5F3EE"/>
                </a:solidFill>
                <a:latin typeface="Consolas"/>
              </a:rPr>
              <a:t>      case WITHDRAWAL: </a:t>
            </a:r>
            <a:r>
              <a:rPr sz="1300" b="1" i="0" dirty="0">
                <a:solidFill>
                  <a:srgbClr val="B99BE8"/>
                </a:solidFill>
                <a:latin typeface="Consolas"/>
              </a:rPr>
              <a:t>return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 2000;</a:t>
            </a:r>
          </a:p>
          <a:p>
            <a:pPr>
              <a:lnSpc>
                <a:spcPct val="130000"/>
              </a:lnSpc>
            </a:pPr>
            <a:r>
              <a:rPr sz="1300" b="0" i="0" dirty="0">
                <a:solidFill>
                  <a:srgbClr val="F5F3EE"/>
                </a:solidFill>
                <a:latin typeface="Consolas"/>
              </a:rPr>
              <a:t>      ...  }</a:t>
            </a:r>
          </a:p>
          <a:p>
            <a:pPr>
              <a:lnSpc>
                <a:spcPct val="130000"/>
              </a:lnSpc>
            </a:pPr>
            <a:r>
              <a:rPr sz="1300" b="0" i="0" dirty="0">
                <a:solidFill>
                  <a:srgbClr val="F5F3EE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2258568"/>
            <a:ext cx="4815687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 dirty="0">
                <a:solidFill>
                  <a:srgbClr val="B99BE8"/>
                </a:solidFill>
                <a:latin typeface="Consolas"/>
              </a:rPr>
              <a:t>interface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 </a:t>
            </a:r>
            <a:r>
              <a:rPr sz="1300" b="1" i="0" dirty="0" err="1">
                <a:solidFill>
                  <a:srgbClr val="D9A544"/>
                </a:solidFill>
                <a:latin typeface="Consolas"/>
              </a:rPr>
              <a:t>AccountTransactionPolicy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 {</a:t>
            </a:r>
          </a:p>
          <a:p>
            <a:pPr>
              <a:lnSpc>
                <a:spcPct val="130000"/>
              </a:lnSpc>
            </a:pPr>
            <a:r>
              <a:rPr sz="1300" b="0" i="0" dirty="0">
                <a:solidFill>
                  <a:srgbClr val="F5F3EE"/>
                </a:solidFill>
                <a:latin typeface="Consolas"/>
              </a:rPr>
              <a:t>  </a:t>
            </a:r>
            <a:r>
              <a:rPr sz="1300" b="0" i="0" dirty="0" err="1">
                <a:solidFill>
                  <a:srgbClr val="F5F3EE"/>
                </a:solidFill>
                <a:latin typeface="Consolas"/>
              </a:rPr>
              <a:t>calculateFee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(type, amount);</a:t>
            </a:r>
          </a:p>
          <a:p>
            <a:pPr>
              <a:lnSpc>
                <a:spcPct val="130000"/>
              </a:lnSpc>
            </a:pPr>
            <a:r>
              <a:rPr sz="1300" b="0" i="0" dirty="0">
                <a:solidFill>
                  <a:srgbClr val="F5F3EE"/>
                </a:solidFill>
                <a:latin typeface="Consolas"/>
              </a:rPr>
              <a:t>  </a:t>
            </a:r>
            <a:r>
              <a:rPr sz="1300" b="0" i="0" dirty="0" err="1">
                <a:solidFill>
                  <a:srgbClr val="F5F3EE"/>
                </a:solidFill>
                <a:latin typeface="Consolas"/>
              </a:rPr>
              <a:t>maxDebitAmount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();</a:t>
            </a:r>
          </a:p>
          <a:p>
            <a:pPr>
              <a:lnSpc>
                <a:spcPct val="130000"/>
              </a:lnSpc>
            </a:pPr>
            <a:r>
              <a:rPr sz="1300" b="0" i="0" dirty="0">
                <a:solidFill>
                  <a:srgbClr val="F5F3EE"/>
                </a:solidFill>
                <a:latin typeface="Consolas"/>
              </a:rPr>
              <a:t>}</a:t>
            </a:r>
          </a:p>
          <a:p>
            <a:pPr>
              <a:lnSpc>
                <a:spcPct val="130000"/>
              </a:lnSpc>
            </a:pPr>
            <a:r>
              <a:rPr sz="1300" b="0" i="0" dirty="0">
                <a:solidFill>
                  <a:srgbClr val="F5F3EE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1300" b="1" i="0" dirty="0">
                <a:solidFill>
                  <a:srgbClr val="B99BE8"/>
                </a:solidFill>
                <a:latin typeface="Consolas"/>
              </a:rPr>
              <a:t>class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 </a:t>
            </a:r>
            <a:r>
              <a:rPr sz="1300" b="1" i="0" dirty="0" err="1">
                <a:solidFill>
                  <a:srgbClr val="D9A544"/>
                </a:solidFill>
                <a:latin typeface="Consolas"/>
              </a:rPr>
              <a:t>SavingsTransactionPolicy</a:t>
            </a:r>
            <a:endParaRPr sz="1300" b="1" i="0" dirty="0">
              <a:solidFill>
                <a:srgbClr val="D9A544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 b="1" i="0" dirty="0">
                <a:solidFill>
                  <a:srgbClr val="B99BE8"/>
                </a:solidFill>
                <a:latin typeface="Consolas"/>
              </a:rPr>
              <a:t>class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 </a:t>
            </a:r>
            <a:r>
              <a:rPr sz="1300" b="1" i="0" dirty="0" err="1">
                <a:solidFill>
                  <a:srgbClr val="D9A544"/>
                </a:solidFill>
                <a:latin typeface="Consolas"/>
              </a:rPr>
              <a:t>CheckingTransactionPolicy</a:t>
            </a:r>
            <a:endParaRPr sz="1300" b="1" i="0" dirty="0">
              <a:solidFill>
                <a:srgbClr val="D9A544"/>
              </a:solidFill>
              <a:latin typeface="Consolas"/>
            </a:endParaRPr>
          </a:p>
          <a:p>
            <a:pPr>
              <a:lnSpc>
                <a:spcPct val="130000"/>
              </a:lnSpc>
            </a:pPr>
            <a:r>
              <a:rPr sz="1300" b="0" i="0" dirty="0">
                <a:solidFill>
                  <a:srgbClr val="F5F3EE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1300" b="0" i="0" dirty="0" err="1">
                <a:solidFill>
                  <a:srgbClr val="F5F3EE"/>
                </a:solidFill>
                <a:latin typeface="Consolas"/>
              </a:rPr>
              <a:t>policyResolver.resolve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(</a:t>
            </a:r>
            <a:r>
              <a:rPr sz="1300" b="0" i="0" dirty="0" err="1">
                <a:solidFill>
                  <a:srgbClr val="F5F3EE"/>
                </a:solidFill>
                <a:latin typeface="Consolas"/>
              </a:rPr>
              <a:t>accountType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)</a:t>
            </a:r>
          </a:p>
          <a:p>
            <a:pPr>
              <a:lnSpc>
                <a:spcPct val="130000"/>
              </a:lnSpc>
            </a:pPr>
            <a:r>
              <a:rPr sz="1300" b="0" i="0" dirty="0">
                <a:solidFill>
                  <a:srgbClr val="F5F3EE"/>
                </a:solidFill>
                <a:latin typeface="Consolas"/>
              </a:rPr>
              <a:t>              .</a:t>
            </a:r>
            <a:r>
              <a:rPr sz="1300" b="0" i="0" dirty="0" err="1">
                <a:solidFill>
                  <a:srgbClr val="F5F3EE"/>
                </a:solidFill>
                <a:latin typeface="Consolas"/>
              </a:rPr>
              <a:t>calculateFee</a:t>
            </a:r>
            <a:r>
              <a:rPr sz="1300" b="0" i="0" dirty="0">
                <a:solidFill>
                  <a:srgbClr val="F5F3EE"/>
                </a:solidFill>
                <a:latin typeface="Consolas"/>
              </a:rPr>
              <a:t>(type, amount);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4617720"/>
            <a:ext cx="48156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8C93A6"/>
                </a:solidFill>
                <a:latin typeface="Segoe UI"/>
              </a:rPr>
              <a:t>switch anidado dentro de TransactionServiceImpl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6" y="4069080"/>
            <a:ext cx="48156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 dirty="0" err="1">
                <a:solidFill>
                  <a:srgbClr val="8C93A6"/>
                </a:solidFill>
                <a:latin typeface="Segoe UI"/>
              </a:rPr>
              <a:t>una</a:t>
            </a:r>
            <a:r>
              <a:rPr sz="1300" b="0" i="0" dirty="0">
                <a:solidFill>
                  <a:srgbClr val="8C93A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8C93A6"/>
                </a:solidFill>
                <a:latin typeface="Segoe UI"/>
              </a:rPr>
              <a:t>política</a:t>
            </a:r>
            <a:r>
              <a:rPr sz="1300" b="0" i="0" dirty="0">
                <a:solidFill>
                  <a:srgbClr val="8C93A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8C93A6"/>
                </a:solidFill>
                <a:latin typeface="Segoe UI"/>
              </a:rPr>
              <a:t>por</a:t>
            </a:r>
            <a:r>
              <a:rPr sz="1300" b="0" i="0" dirty="0">
                <a:solidFill>
                  <a:srgbClr val="8C93A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8C93A6"/>
                </a:solidFill>
                <a:latin typeface="Segoe UI"/>
              </a:rPr>
              <a:t>tipo</a:t>
            </a:r>
            <a:r>
              <a:rPr sz="1300" b="0" i="0" dirty="0">
                <a:solidFill>
                  <a:srgbClr val="8C93A6"/>
                </a:solidFill>
                <a:latin typeface="Segoe UI"/>
              </a:rPr>
              <a:t> de </a:t>
            </a:r>
            <a:r>
              <a:rPr sz="1300" b="0" i="0" dirty="0" err="1">
                <a:solidFill>
                  <a:srgbClr val="8C93A6"/>
                </a:solidFill>
                <a:latin typeface="Segoe UI"/>
              </a:rPr>
              <a:t>cuenta</a:t>
            </a:r>
            <a:r>
              <a:rPr sz="1300" b="0" i="0" dirty="0">
                <a:solidFill>
                  <a:srgbClr val="8C93A6"/>
                </a:solidFill>
                <a:latin typeface="Segoe UI"/>
              </a:rPr>
              <a:t>; el resolver </a:t>
            </a:r>
            <a:r>
              <a:rPr sz="1300" b="0" i="0" dirty="0" err="1">
                <a:solidFill>
                  <a:srgbClr val="8C93A6"/>
                </a:solidFill>
                <a:latin typeface="Segoe UI"/>
              </a:rPr>
              <a:t>elige</a:t>
            </a:r>
            <a:r>
              <a:rPr sz="1300" b="0" i="0" dirty="0">
                <a:solidFill>
                  <a:srgbClr val="8C93A6"/>
                </a:solidFill>
                <a:latin typeface="Segoe UI"/>
              </a:rPr>
              <a:t> sin </a:t>
            </a:r>
            <a:r>
              <a:rPr sz="1300" b="0" i="0" dirty="0" err="1">
                <a:solidFill>
                  <a:srgbClr val="8C93A6"/>
                </a:solidFill>
                <a:latin typeface="Segoe UI"/>
              </a:rPr>
              <a:t>condicionales</a:t>
            </a:r>
            <a:endParaRPr sz="1300" b="0" i="0" dirty="0">
              <a:solidFill>
                <a:srgbClr val="8C93A6"/>
              </a:solidFill>
              <a:latin typeface="Segoe UI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16636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5303520"/>
            <a:ext cx="8503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5F3EE"/>
                </a:solidFill>
                <a:latin typeface="Segoe UI"/>
              </a:rPr>
              <a:t>Se quería poder agregar un tipo de cuenta nuevo sin modificar el procesador de transacciones.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6975" y="5303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D9A544"/>
                </a:solidFill>
                <a:latin typeface="Consolas"/>
              </a:rPr>
              <a:t>PRINCIPIO: OCP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26364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C93A6"/>
                </a:solidFill>
                <a:latin typeface="Consolas"/>
              </a:rPr>
              <a:t>Core Banking Refactoring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5455" y="6355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8C93A6"/>
                </a:solidFill>
                <a:latin typeface="Consolas"/>
              </a:rPr>
              <a:t>04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9144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D9A544"/>
                </a:solidFill>
                <a:latin typeface="Consolas"/>
              </a:rPr>
              <a:t>LEG-0</a:t>
            </a:r>
            <a:r>
              <a:rPr lang="es-419" sz="1300" b="1" i="0" dirty="0">
                <a:solidFill>
                  <a:srgbClr val="D9A544"/>
                </a:solidFill>
                <a:latin typeface="Consolas"/>
              </a:rPr>
              <a:t>3</a:t>
            </a:r>
            <a:r>
              <a:rPr sz="1300" b="1" i="0" dirty="0">
                <a:solidFill>
                  <a:srgbClr val="D9A544"/>
                </a:solidFill>
                <a:latin typeface="Consolas"/>
              </a:rPr>
              <a:t> →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5F3EE"/>
                </a:solidFill>
                <a:latin typeface="Segoe UI"/>
              </a:rPr>
              <a:t>Comportamiento según el estado de la cuenta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364327" cy="3246120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78727" y="1691640"/>
            <a:ext cx="5364327" cy="3246120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74520"/>
            <a:ext cx="481568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D9584A"/>
                </a:solidFill>
                <a:latin typeface="Consolas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047" y="1874520"/>
            <a:ext cx="481568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FAE7C"/>
                </a:solidFill>
                <a:latin typeface="Consolas"/>
              </a:rPr>
              <a:t>DESPUÉS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58568"/>
            <a:ext cx="4815687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if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(status == CLOSED)</a:t>
            </a:r>
          </a:p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  throw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ACCOUNT_CLOSED;</a:t>
            </a:r>
          </a:p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if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(status == BLOCKED)</a:t>
            </a:r>
          </a:p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  throw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ACCOUNT_BLOCKED;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1300" b="0" i="1">
                <a:solidFill>
                  <a:srgbClr val="8C93A6"/>
                </a:solidFill>
                <a:latin typeface="Consolas"/>
              </a:rPr>
              <a:t>// repetido en deposit(), withdraw(),</a:t>
            </a:r>
          </a:p>
          <a:p>
            <a:pPr>
              <a:lnSpc>
                <a:spcPct val="130000"/>
              </a:lnSpc>
            </a:pPr>
            <a:r>
              <a:rPr sz="1300" b="0" i="1">
                <a:solidFill>
                  <a:srgbClr val="8C93A6"/>
                </a:solidFill>
                <a:latin typeface="Consolas"/>
              </a:rPr>
              <a:t>// transfer() y changeStatus()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2258568"/>
            <a:ext cx="4815687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interface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</a:t>
            </a:r>
            <a:r>
              <a:rPr sz="1300" b="1" i="0">
                <a:solidFill>
                  <a:srgbClr val="D9A544"/>
                </a:solidFill>
                <a:latin typeface="Consolas"/>
              </a:rPr>
              <a:t>AccountState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{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 assertCanDebit();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 assertCanCredit();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 assertCanTransitionTo(target);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}</a:t>
            </a:r>
          </a:p>
          <a:p>
            <a:pPr>
              <a:lnSpc>
                <a:spcPct val="130000"/>
              </a:lnSpc>
            </a:pPr>
            <a:r>
              <a:rPr sz="1300" b="0" i="1">
                <a:solidFill>
                  <a:srgbClr val="8C93A6"/>
                </a:solidFill>
                <a:latin typeface="Consolas"/>
              </a:rPr>
              <a:t>// Active / Blocked / ClosedAccountState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accountStateContext.assertCanDebit(account);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343400"/>
            <a:ext cx="48156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8C93A6"/>
                </a:solidFill>
                <a:latin typeface="Segoe UI"/>
              </a:rPr>
              <a:t>la misma decisión, escrita cuatro veces en dos clases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4343400"/>
            <a:ext cx="48156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8C93A6"/>
                </a:solidFill>
                <a:latin typeface="Segoe UI"/>
              </a:rPr>
              <a:t>cada estado encapsula su propia regla, una sola vez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16636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5303520"/>
            <a:ext cx="8503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5F3EE"/>
                </a:solidFill>
                <a:latin typeface="Segoe UI"/>
              </a:rPr>
              <a:t>El comportamiento permitido (débito, crédito, transición) es distinto por estado y aparecía en más de una operación.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6975" y="5303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D9A544"/>
                </a:solidFill>
                <a:latin typeface="Consolas"/>
              </a:rPr>
              <a:t>PRINCIPIO: OCP · SRP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26364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C93A6"/>
                </a:solidFill>
                <a:latin typeface="Consolas"/>
              </a:rPr>
              <a:t>Core Banking Refactoring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5455" y="6355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8C93A6"/>
                </a:solidFill>
                <a:latin typeface="Consolas"/>
              </a:rPr>
              <a:t>05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9144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D9A544"/>
                </a:solidFill>
                <a:latin typeface="Consolas"/>
              </a:rPr>
              <a:t>LEG-0</a:t>
            </a:r>
            <a:r>
              <a:rPr lang="es-419" sz="1300" b="1" i="0" dirty="0">
                <a:solidFill>
                  <a:srgbClr val="D9A544"/>
                </a:solidFill>
                <a:latin typeface="Consolas"/>
              </a:rPr>
              <a:t>4</a:t>
            </a:r>
            <a:r>
              <a:rPr sz="1300" b="1" i="0" dirty="0">
                <a:solidFill>
                  <a:srgbClr val="D9A544"/>
                </a:solidFill>
                <a:latin typeface="Consolas"/>
              </a:rPr>
              <a:t> → CHAIN OF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5F3EE"/>
                </a:solidFill>
                <a:latin typeface="Segoe UI"/>
              </a:rPr>
              <a:t>Validar una transferencia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364327" cy="3246120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78727" y="1691640"/>
            <a:ext cx="5364327" cy="3246120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74520"/>
            <a:ext cx="481568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D9584A"/>
                </a:solidFill>
                <a:latin typeface="Consolas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047" y="1874520"/>
            <a:ext cx="481568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FAE7C"/>
                </a:solidFill>
                <a:latin typeface="Consolas"/>
              </a:rPr>
              <a:t>DESPUÉS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58568"/>
            <a:ext cx="4815687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1">
                <a:solidFill>
                  <a:srgbClr val="8C93A6"/>
                </a:solidFill>
                <a:latin typeface="Consolas"/>
              </a:rPr>
              <a:t>// dentro de transfer(): siete pasos seguidos</a:t>
            </a:r>
          </a:p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if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(amount &lt;= 0) </a:t>
            </a:r>
            <a:r>
              <a:rPr sz="1300" b="1" i="0">
                <a:solidFill>
                  <a:srgbClr val="B99BE8"/>
                </a:solidFill>
                <a:latin typeface="Consolas"/>
              </a:rPr>
              <a:t>throw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...;</a:t>
            </a:r>
          </a:p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if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(source == destination) </a:t>
            </a:r>
            <a:r>
              <a:rPr sz="1300" b="1" i="0">
                <a:solidFill>
                  <a:srgbClr val="B99BE8"/>
                </a:solidFill>
                <a:latin typeface="Consolas"/>
              </a:rPr>
              <a:t>throw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...;</a:t>
            </a:r>
          </a:p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if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(source closed || blocked) </a:t>
            </a:r>
            <a:r>
              <a:rPr sz="1300" b="1" i="0">
                <a:solidFill>
                  <a:srgbClr val="B99BE8"/>
                </a:solidFill>
                <a:latin typeface="Consolas"/>
              </a:rPr>
              <a:t>throw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...;</a:t>
            </a:r>
          </a:p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if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(destination closed) </a:t>
            </a:r>
            <a:r>
              <a:rPr sz="1300" b="1" i="0">
                <a:solidFill>
                  <a:srgbClr val="B99BE8"/>
                </a:solidFill>
                <a:latin typeface="Consolas"/>
              </a:rPr>
              <a:t>throw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...;</a:t>
            </a:r>
          </a:p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if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(amount &gt; limit) </a:t>
            </a:r>
            <a:r>
              <a:rPr sz="1300" b="1" i="0">
                <a:solidFill>
                  <a:srgbClr val="B99BE8"/>
                </a:solidFill>
                <a:latin typeface="Consolas"/>
              </a:rPr>
              <a:t>throw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...;</a:t>
            </a:r>
          </a:p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if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(balance &lt; total) </a:t>
            </a:r>
            <a:r>
              <a:rPr sz="1300" b="1" i="0">
                <a:solidFill>
                  <a:srgbClr val="B99BE8"/>
                </a:solidFill>
                <a:latin typeface="Consolas"/>
              </a:rPr>
              <a:t>throw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...;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2258568"/>
            <a:ext cx="4815687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interface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</a:t>
            </a:r>
            <a:r>
              <a:rPr sz="1300" b="1" i="0">
                <a:solidFill>
                  <a:srgbClr val="D9A544"/>
                </a:solidFill>
                <a:latin typeface="Consolas"/>
              </a:rPr>
              <a:t>TransactionValidator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{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 setNext(next); validate(context);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}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Amount → DiffAccounts → DebitState →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CreditState → Limit →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343400"/>
            <a:ext cx="48156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8C93A6"/>
                </a:solidFill>
                <a:latin typeface="Segoe UI"/>
              </a:rPr>
              <a:t>un método largo; ninguna regla se prueba por separado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4343400"/>
            <a:ext cx="48156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8C93A6"/>
                </a:solidFill>
                <a:latin typeface="Segoe UI"/>
              </a:rPr>
              <a:t>cada regla es probable de forma aislada; el orden vive en un provider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16636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5303520"/>
            <a:ext cx="8503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5F3EE"/>
                </a:solidFill>
                <a:latin typeface="Segoe UI"/>
              </a:rPr>
              <a:t>Las reglas cambian de forma independiente y no todas aplican a cada operación (depósito, retiro, transferencia).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6975" y="5303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D9A544"/>
                </a:solidFill>
                <a:latin typeface="Consolas"/>
              </a:rPr>
              <a:t>PRINCIPIO: SRP · OCP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26364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C93A6"/>
                </a:solidFill>
                <a:latin typeface="Consolas"/>
              </a:rPr>
              <a:t>Core Banking Refactoring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5455" y="6355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8C93A6"/>
                </a:solidFill>
                <a:latin typeface="Consolas"/>
              </a:rPr>
              <a:t>06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D9A544"/>
                </a:solidFill>
                <a:latin typeface="Consolas"/>
              </a:rPr>
              <a:t>LEG-05 → OBSERVER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5F3EE"/>
                </a:solidFill>
                <a:latin typeface="Segoe UI"/>
              </a:rPr>
              <a:t>Después de una transacción exitosa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364327" cy="3246120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78727" y="1691640"/>
            <a:ext cx="5364327" cy="3246120"/>
          </a:xfrm>
          <a:prstGeom prst="rect">
            <a:avLst/>
          </a:prstGeom>
          <a:solidFill>
            <a:srgbClr val="14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74520"/>
            <a:ext cx="481568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D9584A"/>
                </a:solidFill>
                <a:latin typeface="Consolas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047" y="1874520"/>
            <a:ext cx="4815687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FAE7C"/>
                </a:solidFill>
                <a:latin typeface="Consolas"/>
              </a:rPr>
              <a:t>DESPUÉS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58568"/>
            <a:ext cx="4815687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saved = transactionRepository.save(tx);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createAuditRecord(saved, ...);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sendSimulatedNotification(account, ...);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1300" b="0" i="1">
                <a:solidFill>
                  <a:srgbClr val="8C93A6"/>
                </a:solidFill>
                <a:latin typeface="Consolas"/>
              </a:rPr>
              <a:t>// repetido en deposit(), withdraw()</a:t>
            </a:r>
          </a:p>
          <a:p>
            <a:pPr>
              <a:lnSpc>
                <a:spcPct val="130000"/>
              </a:lnSpc>
            </a:pPr>
            <a:r>
              <a:rPr sz="1300" b="0" i="1">
                <a:solidFill>
                  <a:srgbClr val="8C93A6"/>
                </a:solidFill>
                <a:latin typeface="Consolas"/>
              </a:rPr>
              <a:t>// y transfer()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2258568"/>
            <a:ext cx="4815687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eventPublisher.publish(</a:t>
            </a:r>
          </a:p>
          <a:p>
            <a:pPr>
              <a:lnSpc>
                <a:spcPct val="130000"/>
              </a:lnSpc>
            </a:pPr>
            <a:r>
              <a:rPr sz="1300" b="1" i="0">
                <a:solidFill>
                  <a:srgbClr val="B99BE8"/>
                </a:solidFill>
                <a:latin typeface="Consolas"/>
              </a:rPr>
              <a:t>  new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 </a:t>
            </a:r>
            <a:r>
              <a:rPr sz="1300" b="1" i="0">
                <a:solidFill>
                  <a:srgbClr val="D9A544"/>
                </a:solidFill>
                <a:latin typeface="Consolas"/>
              </a:rPr>
              <a:t>TransactionCompletedEvent</a:t>
            </a:r>
            <a:r>
              <a:rPr sz="1300" b="0" i="0">
                <a:solidFill>
                  <a:srgbClr val="F5F3EE"/>
                </a:solidFill>
                <a:latin typeface="Consolas"/>
              </a:rPr>
              <a:t>(...)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);</a:t>
            </a:r>
          </a:p>
          <a:p>
            <a:pPr>
              <a:lnSpc>
                <a:spcPct val="130000"/>
              </a:lnSpc>
            </a:pPr>
            <a:r>
              <a:rPr sz="1300" b="0" i="0">
                <a:solidFill>
                  <a:srgbClr val="F5F3EE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1300" b="0" i="1">
                <a:solidFill>
                  <a:srgbClr val="8C93A6"/>
                </a:solidFill>
                <a:latin typeface="Consolas"/>
              </a:rPr>
              <a:t>// AuditTransactionObserver</a:t>
            </a:r>
          </a:p>
          <a:p>
            <a:pPr>
              <a:lnSpc>
                <a:spcPct val="130000"/>
              </a:lnSpc>
            </a:pPr>
            <a:r>
              <a:rPr sz="1300" b="0" i="1">
                <a:solidFill>
                  <a:srgbClr val="8C93A6"/>
                </a:solidFill>
                <a:latin typeface="Consolas"/>
              </a:rPr>
              <a:t>// NotificationTransactionObserver</a:t>
            </a:r>
          </a:p>
          <a:p>
            <a:pPr>
              <a:lnSpc>
                <a:spcPct val="130000"/>
              </a:lnSpc>
            </a:pPr>
            <a:r>
              <a:rPr sz="1300" b="0" i="1">
                <a:solidFill>
                  <a:srgbClr val="8C93A6"/>
                </a:solidFill>
                <a:latin typeface="Consolas"/>
              </a:rPr>
              <a:t>// reaccionan sin ser conocidos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343400"/>
            <a:ext cx="48156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8C93A6"/>
                </a:solidFill>
                <a:latin typeface="Segoe UI"/>
              </a:rPr>
              <a:t>el servicio conoce y ejecuta la auditoría y la notificación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4343400"/>
            <a:ext cx="48156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8C93A6"/>
                </a:solidFill>
                <a:latin typeface="Segoe UI"/>
              </a:rPr>
              <a:t>publicar un evento; los observadores reaccionan por su cuenta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16636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5303520"/>
            <a:ext cx="8503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5F3EE"/>
                </a:solidFill>
                <a:latin typeface="Segoe UI"/>
              </a:rPr>
              <a:t>Auditar y notificar no forman parte del cálculo del movimiento de dinero; agregar una reacción no debe tocar el procesador.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6975" y="5303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D9A544"/>
                </a:solidFill>
                <a:latin typeface="Consolas"/>
              </a:rPr>
              <a:t>PRINCIPIO: SRP · DIP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26364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C93A6"/>
                </a:solidFill>
                <a:latin typeface="Consolas"/>
              </a:rPr>
              <a:t>Core Banking Refactoring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5455" y="6355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8C93A6"/>
                </a:solidFill>
                <a:latin typeface="Consolas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D9A544"/>
                </a:solidFill>
                <a:latin typeface="Consolas"/>
              </a:rPr>
              <a:t>BALANCE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F3EE"/>
                </a:solidFill>
                <a:latin typeface="Segoe UI"/>
              </a:rPr>
              <a:t>Cinco principios, antes y después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B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D9584A"/>
                          </a:solidFill>
                          <a:latin typeface="Consolas"/>
                        </a:rPr>
                        <a:t>LEGACY</a:t>
                      </a:r>
                    </a:p>
                  </a:txBody>
                  <a:tcPr>
                    <a:solidFill>
                      <a:srgbClr val="1B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4FAE7C"/>
                          </a:solidFill>
                          <a:latin typeface="Consolas"/>
                        </a:rPr>
                        <a:t>REFACTOR</a:t>
                      </a:r>
                    </a:p>
                  </a:txBody>
                  <a:tcPr>
                    <a:solidFill>
                      <a:srgbClr val="1B1E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D9A544"/>
                          </a:solidFill>
                          <a:latin typeface="Consolas"/>
                        </a:rPr>
                        <a:t>SRP</a:t>
                      </a:r>
                    </a:p>
                  </a:txBody>
                  <a:tcPr marL="109728" marR="109728" marT="73152" marB="73152" anchor="ctr"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5F3EE"/>
                          </a:solidFill>
                          <a:latin typeface="Segoe UI"/>
                        </a:rPr>
                        <a:t>Un servicio mezcla validación, políticas, estados, flujo, auditoría y notificación</a:t>
                      </a:r>
                    </a:p>
                  </a:txBody>
                  <a:tcPr marL="109728" marR="109728" marT="73152" marB="73152" anchor="ctr"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5F3EE"/>
                          </a:solidFill>
                          <a:latin typeface="Segoe UI"/>
                        </a:rPr>
                        <a:t>Cada responsabilidad vive en su propia clase</a:t>
                      </a:r>
                    </a:p>
                  </a:txBody>
                  <a:tcPr marL="109728" marR="109728" marT="73152" marB="73152" anchor="ctr">
                    <a:solidFill>
                      <a:srgbClr val="14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D9A544"/>
                          </a:solidFill>
                          <a:latin typeface="Consolas"/>
                        </a:rPr>
                        <a:t>OCP</a:t>
                      </a:r>
                    </a:p>
                  </a:txBody>
                  <a:tcPr marL="109728" marR="109728" marT="73152" marB="73152" anchor="ctr">
                    <a:solidFill>
                      <a:srgbClr val="1B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5F3EE"/>
                          </a:solidFill>
                          <a:latin typeface="Segoe UI"/>
                        </a:rPr>
                        <a:t>Agregar un tipo, un estado o una regla exige modificar el servicio</a:t>
                      </a:r>
                    </a:p>
                  </a:txBody>
                  <a:tcPr marL="109728" marR="109728" marT="73152" marB="73152" anchor="ctr">
                    <a:solidFill>
                      <a:srgbClr val="1B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5F3EE"/>
                          </a:solidFill>
                          <a:latin typeface="Segoe UI"/>
                        </a:rPr>
                        <a:t>Se agrega una clase nueva, sin tocar código existente</a:t>
                      </a:r>
                    </a:p>
                  </a:txBody>
                  <a:tcPr marL="109728" marR="109728" marT="73152" marB="73152" anchor="ctr">
                    <a:solidFill>
                      <a:srgbClr val="1B1E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D9A544"/>
                          </a:solidFill>
                          <a:latin typeface="Consolas"/>
                        </a:rPr>
                        <a:t>LSP</a:t>
                      </a:r>
                    </a:p>
                  </a:txBody>
                  <a:tcPr marL="109728" marR="109728" marT="73152" marB="73152" anchor="ctr"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5F3EE"/>
                          </a:solidFill>
                          <a:latin typeface="Segoe UI"/>
                        </a:rPr>
                        <a:t>No aplica de forma crítica — sin jerarquías propias</a:t>
                      </a:r>
                    </a:p>
                  </a:txBody>
                  <a:tcPr marL="109728" marR="109728" marT="73152" marB="73152" anchor="ctr"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5F3EE"/>
                          </a:solidFill>
                          <a:latin typeface="Segoe UI"/>
                        </a:rPr>
                        <a:t>Los processors y validadores respetan el contrato del padre</a:t>
                      </a:r>
                    </a:p>
                  </a:txBody>
                  <a:tcPr marL="109728" marR="109728" marT="73152" marB="73152" anchor="ctr">
                    <a:solidFill>
                      <a:srgbClr val="14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D9A544"/>
                          </a:solidFill>
                          <a:latin typeface="Consolas"/>
                        </a:rPr>
                        <a:t>ISP</a:t>
                      </a:r>
                    </a:p>
                  </a:txBody>
                  <a:tcPr marL="109728" marR="109728" marT="73152" marB="73152" anchor="ctr">
                    <a:solidFill>
                      <a:srgbClr val="1B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5F3EE"/>
                          </a:solidFill>
                          <a:latin typeface="Segoe UI"/>
                        </a:rPr>
                        <a:t>Una interfaz amplia por servicio</a:t>
                      </a:r>
                    </a:p>
                  </a:txBody>
                  <a:tcPr marL="109728" marR="109728" marT="73152" marB="73152" anchor="ctr">
                    <a:solidFill>
                      <a:srgbClr val="1B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5F3EE"/>
                          </a:solidFill>
                          <a:latin typeface="Segoe UI"/>
                        </a:rPr>
                        <a:t>Interfaces pequeñas y específicas por rol</a:t>
                      </a:r>
                    </a:p>
                  </a:txBody>
                  <a:tcPr marL="109728" marR="109728" marT="73152" marB="73152" anchor="ctr">
                    <a:solidFill>
                      <a:srgbClr val="1B1E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D9A544"/>
                          </a:solidFill>
                          <a:latin typeface="Consolas"/>
                        </a:rPr>
                        <a:t>DIP</a:t>
                      </a:r>
                    </a:p>
                  </a:txBody>
                  <a:tcPr marL="109728" marR="109728" marT="73152" marB="73152" anchor="ctr"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5F3EE"/>
                          </a:solidFill>
                          <a:latin typeface="Segoe UI"/>
                        </a:rPr>
                        <a:t>Depende directamente del repositorio de auditoría</a:t>
                      </a:r>
                    </a:p>
                  </a:txBody>
                  <a:tcPr marL="109728" marR="109728" marT="73152" marB="73152" anchor="ctr"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5F3EE"/>
                          </a:solidFill>
                          <a:latin typeface="Segoe UI"/>
                        </a:rPr>
                        <a:t>Depende de la abstracción TransactionEventPublisher</a:t>
                      </a:r>
                    </a:p>
                  </a:txBody>
                  <a:tcPr marL="109728" marR="109728" marT="73152" marB="73152" anchor="ctr">
                    <a:solidFill>
                      <a:srgbClr val="14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548640" y="6263640"/>
            <a:ext cx="11094415" cy="0"/>
          </a:xfrm>
          <a:prstGeom prst="line">
            <a:avLst/>
          </a:prstGeom>
          <a:ln w="9525">
            <a:solidFill>
              <a:srgbClr val="3A3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C93A6"/>
                </a:solidFill>
                <a:latin typeface="Consolas"/>
              </a:rPr>
              <a:t>Core Banking Refactoring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355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8C93A6"/>
                </a:solidFill>
                <a:latin typeface="Consolas"/>
              </a:rPr>
              <a:t>09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1058</Words>
  <Application>Microsoft Office PowerPoint</Application>
  <PresentationFormat>Panorámica</PresentationFormat>
  <Paragraphs>193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jeison cabarcas</cp:lastModifiedBy>
  <cp:revision>5</cp:revision>
  <dcterms:created xsi:type="dcterms:W3CDTF">2013-01-27T09:14:16Z</dcterms:created>
  <dcterms:modified xsi:type="dcterms:W3CDTF">2026-09-12T12:50:43Z</dcterms:modified>
  <cp:category/>
</cp:coreProperties>
</file>